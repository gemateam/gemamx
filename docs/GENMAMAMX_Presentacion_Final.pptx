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152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54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2926080" y="4114800"/>
            <a:ext cx="6217920" cy="1028700"/>
          </a:xfrm>
          <a:prstGeom prst="rect">
            <a:avLst/>
          </a:prstGeom>
          <a:solidFill>
            <a:srgbClr val="0A3D40"/>
          </a:solidFill>
          <a:ln w="12700">
            <a:solidFill>
              <a:srgbClr val="0A3D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256032" y="8229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56032" y="16002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56032" y="2240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256032" y="3017520"/>
            <a:ext cx="2286000" cy="27432"/>
          </a:xfrm>
          <a:prstGeom prst="rect">
            <a:avLst/>
          </a:prstGeom>
          <a:solidFill>
            <a:srgbClr val="D0ECEC"/>
          </a:solidFill>
          <a:ln w="12700">
            <a:solidFill>
              <a:srgbClr val="D0EC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56032" y="3154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Medicina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Genómica de Precisión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46120" y="5486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Cáncer de Mama en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46120" y="15087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TCGA-BRCA  ›  AlphaFold 3  ›  Docking Molecular  ›  Fármacos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2011680"/>
            <a:ext cx="2651760" cy="749808"/>
          </a:xfrm>
          <a:prstGeom prst="rect">
            <a:avLst/>
          </a:prstGeom>
          <a:solidFill>
            <a:srgbClr val="0A3D40"/>
          </a:solidFill>
          <a:ln w="12700">
            <a:solidFill>
              <a:srgbClr val="1D6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383280" y="20665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83280" y="2414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nuevos / año en México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2011680"/>
            <a:ext cx="2651760" cy="749808"/>
          </a:xfrm>
          <a:prstGeom prst="rect">
            <a:avLst/>
          </a:prstGeom>
          <a:solidFill>
            <a:srgbClr val="0A3D40"/>
          </a:solidFill>
          <a:ln w="12700">
            <a:solidFill>
              <a:srgbClr val="1D6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217920" y="20665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2414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diagnóstico molecular (sector público)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2880360"/>
            <a:ext cx="2651760" cy="749808"/>
          </a:xfrm>
          <a:prstGeom prst="rect">
            <a:avLst/>
          </a:prstGeom>
          <a:solidFill>
            <a:srgbClr val="0A3D40"/>
          </a:solidFill>
          <a:ln w="12700">
            <a:solidFill>
              <a:srgbClr val="1D6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3383280" y="29352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83280" y="3282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tumores de mama con mutación PIK3CA (TCGA-BRCA)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80760" y="2880360"/>
            <a:ext cx="2651760" cy="749808"/>
          </a:xfrm>
          <a:prstGeom prst="rect">
            <a:avLst/>
          </a:prstGeom>
          <a:solidFill>
            <a:srgbClr val="0A3D40"/>
          </a:solidFill>
          <a:ln w="12700">
            <a:solidFill>
              <a:srgbClr val="1D6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6217920" y="29352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17920" y="3282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secuenciación NGS hoy (vs $3B en 2003)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46120" y="42062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D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Google.org Impact Challenge: AI for Science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FADBD8"/>
          </a:solidFill>
          <a:ln w="12700">
            <a:solidFill>
              <a:srgbClr val="F194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fármaco existe. El diagnóstico es lo que falta.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pacientes con mutación PIK3CA reciben quimioterapia estándar cuando podrían recibir alpelisib — más efectivo y menos tóxico para ellas — porque nadie secuenció su tumor.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26974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pacientes en sector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acceden a NGS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0116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3200400" y="2011680"/>
            <a:ext cx="2697480" cy="54864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337560" y="21214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37560" y="2743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nuevos de cáncer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mama por año en MX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20116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6035040" y="2011680"/>
            <a:ext cx="269748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172200" y="21214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172200" y="2743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genómicos 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mestiza mexicana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5457"/>
          </a:solidFill>
          <a:ln w="12700">
            <a:solidFill>
              <a:srgbClr val="0A545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pipeline: de la biopsia al fármaco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" y="914400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CLÍNICA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09728" y="1097280"/>
            <a:ext cx="1810512" cy="3730752"/>
          </a:xfrm>
          <a:prstGeom prst="rect">
            <a:avLst/>
          </a:prstGeom>
          <a:solidFill>
            <a:srgbClr val="F8FAFB"/>
          </a:solidFill>
          <a:ln w="12700">
            <a:solidFill>
              <a:srgbClr val="E8EC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84048" y="1143000"/>
            <a:ext cx="347472" cy="34747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84048" y="11612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" y="1581912"/>
            <a:ext cx="85039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137160" y="1581912"/>
            <a:ext cx="850392" cy="5486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92024" y="1673352"/>
            <a:ext cx="74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dual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2024" y="2121408"/>
            <a:ext cx="740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Tejido sano y tumor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mismo paciente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87552" y="1463040"/>
            <a:ext cx="54864" cy="0"/>
          </a:xfrm>
          <a:prstGeom prst="line">
            <a:avLst/>
          </a:prstGeom>
          <a:noFill/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1289304" y="1143000"/>
            <a:ext cx="347472" cy="34747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289304" y="11612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42416" y="1581912"/>
            <a:ext cx="85039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1042416" y="1581912"/>
            <a:ext cx="850392" cy="5486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1097280" y="1673352"/>
            <a:ext cx="74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ADN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97280" y="2121408"/>
            <a:ext cx="740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 genómico de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muestras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20824" y="914400"/>
            <a:ext cx="2660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GENÓMICO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993392" y="1097280"/>
            <a:ext cx="2715768" cy="3730752"/>
          </a:xfrm>
          <a:prstGeom prst="rect">
            <a:avLst/>
          </a:prstGeom>
          <a:solidFill>
            <a:srgbClr val="F8FAFB"/>
          </a:solidFill>
          <a:ln w="12700">
            <a:solidFill>
              <a:srgbClr val="E8EC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2267712" y="1143000"/>
            <a:ext cx="347472" cy="34747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2267712" y="11612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20824" y="1581912"/>
            <a:ext cx="85039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2020824" y="1581912"/>
            <a:ext cx="850392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2075688" y="1673352"/>
            <a:ext cx="74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075688" y="2121408"/>
            <a:ext cx="740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Secuenciación Illumina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 75-300bp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871216" y="1463040"/>
            <a:ext cx="54864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3172968" y="1143000"/>
            <a:ext cx="347472" cy="34747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3172968" y="11612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26080" y="1581912"/>
            <a:ext cx="85039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2926080" y="1581912"/>
            <a:ext cx="850392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2980944" y="1673352"/>
            <a:ext cx="74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somáticas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980944" y="2121408"/>
            <a:ext cx="740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las mutaciones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exclusivas del tumor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776472" y="1463040"/>
            <a:ext cx="54864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4078224" y="1143000"/>
            <a:ext cx="347472" cy="34747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4078224" y="11612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831336" y="1581912"/>
            <a:ext cx="85039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3831336" y="1581912"/>
            <a:ext cx="850392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3886200" y="1673352"/>
            <a:ext cx="74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Anotación funcional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886200" y="2121408"/>
            <a:ext cx="740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ClinVar · OncoKB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variantes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09744" y="914400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ESTRUCTURAL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782312" y="1097280"/>
            <a:ext cx="1810512" cy="3730752"/>
          </a:xfrm>
          <a:prstGeom prst="rect">
            <a:avLst/>
          </a:prstGeom>
          <a:solidFill>
            <a:srgbClr val="F8FAFB"/>
          </a:solidFill>
          <a:ln w="12700">
            <a:solidFill>
              <a:srgbClr val="E8EC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5056632" y="1143000"/>
            <a:ext cx="347472" cy="347472"/>
          </a:xfrm>
          <a:prstGeom prst="ellipse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5056632" y="11612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09744" y="1581912"/>
            <a:ext cx="85039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4809744" y="1581912"/>
            <a:ext cx="850392" cy="54864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/>
          <p:nvPr/>
        </p:nvSpPr>
        <p:spPr>
          <a:xfrm>
            <a:off x="4864608" y="1673352"/>
            <a:ext cx="74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3 (WT)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864608" y="2121408"/>
            <a:ext cx="740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3D proteína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· pLDDT score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660136" y="1463040"/>
            <a:ext cx="54864" cy="0"/>
          </a:xfrm>
          <a:prstGeom prst="line">
            <a:avLst/>
          </a:prstGeom>
          <a:noFill/>
          <a:ln w="19050">
            <a:solidFill>
              <a:srgbClr val="CA6F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48"/>
          <p:cNvSpPr/>
          <p:nvPr/>
        </p:nvSpPr>
        <p:spPr>
          <a:xfrm>
            <a:off x="5961888" y="1143000"/>
            <a:ext cx="347472" cy="347472"/>
          </a:xfrm>
          <a:prstGeom prst="ellipse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Text 49"/>
          <p:cNvSpPr/>
          <p:nvPr/>
        </p:nvSpPr>
        <p:spPr>
          <a:xfrm>
            <a:off x="5961888" y="11612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715000" y="1581912"/>
            <a:ext cx="85039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3" name="Shape 51"/>
          <p:cNvSpPr/>
          <p:nvPr/>
        </p:nvSpPr>
        <p:spPr>
          <a:xfrm>
            <a:off x="5715000" y="1581912"/>
            <a:ext cx="850392" cy="54864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Text 52"/>
          <p:cNvSpPr/>
          <p:nvPr/>
        </p:nvSpPr>
        <p:spPr>
          <a:xfrm>
            <a:off x="5769864" y="1673352"/>
            <a:ext cx="74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Boltz-1 (Mutada)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769864" y="2121408"/>
            <a:ext cx="740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3D mutada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RMSD calculado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693408" y="914400"/>
            <a:ext cx="2660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FÁRMACOS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665976" y="1097280"/>
            <a:ext cx="2715768" cy="3730752"/>
          </a:xfrm>
          <a:prstGeom prst="rect">
            <a:avLst/>
          </a:prstGeom>
          <a:solidFill>
            <a:srgbClr val="F8FAFB"/>
          </a:solidFill>
          <a:ln w="12700">
            <a:solidFill>
              <a:srgbClr val="E8EC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Shape 56"/>
          <p:cNvSpPr/>
          <p:nvPr/>
        </p:nvSpPr>
        <p:spPr>
          <a:xfrm>
            <a:off x="6940296" y="1143000"/>
            <a:ext cx="347472" cy="34747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Text 57"/>
          <p:cNvSpPr/>
          <p:nvPr/>
        </p:nvSpPr>
        <p:spPr>
          <a:xfrm>
            <a:off x="6940296" y="11612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693408" y="1581912"/>
            <a:ext cx="85039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1" name="Shape 59"/>
          <p:cNvSpPr/>
          <p:nvPr/>
        </p:nvSpPr>
        <p:spPr>
          <a:xfrm>
            <a:off x="6693408" y="1581912"/>
            <a:ext cx="850392" cy="5486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Text 60"/>
          <p:cNvSpPr/>
          <p:nvPr/>
        </p:nvSpPr>
        <p:spPr>
          <a:xfrm>
            <a:off x="6748272" y="1673352"/>
            <a:ext cx="74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pockets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748272" y="2121408"/>
            <a:ext cx="740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Cavidades de unión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fpocket · caja docking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543800" y="1463040"/>
            <a:ext cx="54864" cy="0"/>
          </a:xfrm>
          <a:prstGeom prst="line">
            <a:avLst/>
          </a:prstGeom>
          <a:noFill/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Shape 63"/>
          <p:cNvSpPr/>
          <p:nvPr/>
        </p:nvSpPr>
        <p:spPr>
          <a:xfrm>
            <a:off x="7845552" y="1143000"/>
            <a:ext cx="347472" cy="34747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Text 64"/>
          <p:cNvSpPr/>
          <p:nvPr/>
        </p:nvSpPr>
        <p:spPr>
          <a:xfrm>
            <a:off x="7845552" y="11612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7598664" y="1581912"/>
            <a:ext cx="85039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8" name="Shape 66"/>
          <p:cNvSpPr/>
          <p:nvPr/>
        </p:nvSpPr>
        <p:spPr>
          <a:xfrm>
            <a:off x="7598664" y="1581912"/>
            <a:ext cx="850392" cy="5486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Text 67"/>
          <p:cNvSpPr/>
          <p:nvPr/>
        </p:nvSpPr>
        <p:spPr>
          <a:xfrm>
            <a:off x="7653528" y="1673352"/>
            <a:ext cx="74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Docking molecular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653528" y="2121408"/>
            <a:ext cx="740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AutoDock Vina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fármacos testados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449056" y="1463040"/>
            <a:ext cx="54864" cy="0"/>
          </a:xfrm>
          <a:prstGeom prst="line">
            <a:avLst/>
          </a:prstGeom>
          <a:noFill/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2" name="Shape 70"/>
          <p:cNvSpPr/>
          <p:nvPr/>
        </p:nvSpPr>
        <p:spPr>
          <a:xfrm>
            <a:off x="8750808" y="1143000"/>
            <a:ext cx="347472" cy="34747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Text 71"/>
          <p:cNvSpPr/>
          <p:nvPr/>
        </p:nvSpPr>
        <p:spPr>
          <a:xfrm>
            <a:off x="8750808" y="11612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8503920" y="1581912"/>
            <a:ext cx="85039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5" name="Shape 73"/>
          <p:cNvSpPr/>
          <p:nvPr/>
        </p:nvSpPr>
        <p:spPr>
          <a:xfrm>
            <a:off x="8503920" y="1581912"/>
            <a:ext cx="850392" cy="5486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6" name="Text 74"/>
          <p:cNvSpPr/>
          <p:nvPr/>
        </p:nvSpPr>
        <p:spPr>
          <a:xfrm>
            <a:off x="8558784" y="1673352"/>
            <a:ext cx="74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Repositionables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558784" y="2121408"/>
            <a:ext cx="740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Δscore ≤ -1.0 kcal/mol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FDA-aprobados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1883664" y="1463040"/>
            <a:ext cx="128016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79" name="Shape 77"/>
          <p:cNvSpPr/>
          <p:nvPr/>
        </p:nvSpPr>
        <p:spPr>
          <a:xfrm>
            <a:off x="4672584" y="1463040"/>
            <a:ext cx="128016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80" name="Shape 78"/>
          <p:cNvSpPr/>
          <p:nvPr/>
        </p:nvSpPr>
        <p:spPr>
          <a:xfrm>
            <a:off x="6565392" y="1463040"/>
            <a:ext cx="128016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81" name="Shape 79"/>
          <p:cNvSpPr/>
          <p:nvPr/>
        </p:nvSpPr>
        <p:spPr>
          <a:xfrm>
            <a:off x="137160" y="4754880"/>
            <a:ext cx="8869680" cy="274320"/>
          </a:xfrm>
          <a:prstGeom prst="rect">
            <a:avLst/>
          </a:prstGeom>
          <a:solidFill>
            <a:srgbClr val="D0ECEC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2" name="Text 80"/>
          <p:cNvSpPr/>
          <p:nvPr/>
        </p:nvSpPr>
        <p:spPr>
          <a:xfrm>
            <a:off x="274320" y="479145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A5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comparación tumor vs. tejido sano elimina variantes germinales — quedan solo las somáticas, que son el blanco terapéutico directo.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somática vs. germinal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731520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84632" y="1024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germinal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" y="13167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Naciste con ella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" y="1911096"/>
            <a:ext cx="146304" cy="14630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704088" y="18470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todas las células del cuerpo desde el nacimiento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" y="2386584"/>
            <a:ext cx="146304" cy="14630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704088" y="232257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hereda — 50% de probabilidad en hijos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" y="2862072"/>
            <a:ext cx="146304" cy="14630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704088" y="279806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igual en tejido sano y tumor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" y="3337560"/>
            <a:ext cx="146304" cy="14630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704088" y="327355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Relevancia: predisposición familiar y consejo genético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3803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143000" y="3794760"/>
            <a:ext cx="553212" cy="219456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1188720" y="3813048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787652" y="3794760"/>
            <a:ext cx="553212" cy="219456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1833372" y="3813048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32304" y="3794760"/>
            <a:ext cx="553212" cy="219456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2478024" y="3813048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PALB2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96012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160520" cy="731520"/>
          </a:xfrm>
          <a:prstGeom prst="rect">
            <a:avLst/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4919472" y="1024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somática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19472" y="13167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tumor la adquirió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19472" y="1911096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5138928" y="18470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durante la vida en una célula tumoral concreta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19472" y="2386584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5138928" y="232257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hereda — exclusiva del paciente y su tumor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19472" y="2862072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5138928" y="279806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SOLO en el tumor, no en tejido sano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19472" y="3337560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5138928" y="327355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Relevancia: blanco terapéutico directo para ese tumor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19472" y="3803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77840" y="3794760"/>
            <a:ext cx="1116482" cy="219456"/>
          </a:xfrm>
          <a:prstGeom prst="roundRect">
            <a:avLst>
              <a:gd name="adj" fmla="val 16667"/>
            </a:avLst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5623560" y="3813048"/>
            <a:ext cx="10433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PIK3CA H1047R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785762" y="3794760"/>
            <a:ext cx="905256" cy="219456"/>
          </a:xfrm>
          <a:prstGeom prst="roundRect">
            <a:avLst>
              <a:gd name="adj" fmla="val 16667"/>
            </a:avLst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6831482" y="3813048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R175H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782458" y="3794760"/>
            <a:ext cx="905256" cy="219456"/>
          </a:xfrm>
          <a:prstGeom prst="roundRect">
            <a:avLst>
              <a:gd name="adj" fmla="val 16667"/>
            </a:avLst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7828178" y="3813048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ERBB2 amp.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" y="4590288"/>
            <a:ext cx="8503920" cy="384048"/>
          </a:xfrm>
          <a:prstGeom prst="rect">
            <a:avLst/>
          </a:prstGeom>
          <a:solidFill>
            <a:srgbClr val="D0ECEC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41"/>
          <p:cNvSpPr/>
          <p:nvPr/>
        </p:nvSpPr>
        <p:spPr>
          <a:xfrm>
            <a:off x="457200" y="4645152"/>
            <a:ext cx="827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5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GEN-MAMA-MX necesita ambas muestras del mismo paciente: al comparar tumor vs. tejido sano, las germinales se cancelan automáticamente — quedan solo las somáticas, que son el blanco.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Secuenciación NGS: tejido → datos digitales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914400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283464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310896" y="1005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NovaSeq X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0896" y="12618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2da generación · Short-read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0896" y="1481328"/>
            <a:ext cx="1236269" cy="201168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47472" y="1499616"/>
            <a:ext cx="11631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clínico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0896" y="1773936"/>
            <a:ext cx="2615184" cy="27432"/>
          </a:xfrm>
          <a:prstGeom prst="rect">
            <a:avLst/>
          </a:prstGeom>
          <a:solidFill>
            <a:srgbClr val="E8ECEE"/>
          </a:solidFill>
          <a:ln w="12700">
            <a:solidFill>
              <a:srgbClr val="E8EC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10896" y="18653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75–300 bp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" y="21214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 lectura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618488" y="18653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Q40 · 99.99%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18488" y="21214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precisión/base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10896" y="23408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" y="259689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costo/exoma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618488" y="23408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13–44h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18488" y="259689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tiempo/run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10896" y="2880360"/>
            <a:ext cx="2615184" cy="27432"/>
          </a:xfrm>
          <a:prstGeom prst="rect">
            <a:avLst/>
          </a:prstGeom>
          <a:solidFill>
            <a:srgbClr val="E8ECEE"/>
          </a:solidFill>
          <a:ln w="12700">
            <a:solidFill>
              <a:srgbClr val="E8EC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310896" y="3044952"/>
            <a:ext cx="109728" cy="10972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475488" y="298094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Mutaciones puntuales (SNVs) e indels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10896" y="3374136"/>
            <a:ext cx="109728" cy="10972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475488" y="331012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cobertura tumoral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0896" y="3703320"/>
            <a:ext cx="109728" cy="10972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475488" y="3639312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bioinformático maduro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0896" y="4032504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475488" y="3968496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resuelve regiones repetitivas complejas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91256" y="914400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3191256" y="914400"/>
            <a:ext cx="283464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3300984" y="1005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PacBio HiFi (Revio)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300984" y="12618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3ra generación · Long-read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00984" y="1481328"/>
            <a:ext cx="1697126" cy="201168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3337560" y="1499616"/>
            <a:ext cx="16239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estructurales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300984" y="1773936"/>
            <a:ext cx="2615184" cy="27432"/>
          </a:xfrm>
          <a:prstGeom prst="rect">
            <a:avLst/>
          </a:prstGeom>
          <a:solidFill>
            <a:srgbClr val="E8ECEE"/>
          </a:solidFill>
          <a:ln w="12700">
            <a:solidFill>
              <a:srgbClr val="E8EC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3300984" y="18653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 kb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00984" y="21214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 lectura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608576" y="18653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&gt;99.9%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08576" y="21214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precisión/lectura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300984" y="23408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~$800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300984" y="259689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costo/exoma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608576" y="23408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~$600K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608576" y="259689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300984" y="2880360"/>
            <a:ext cx="2615184" cy="27432"/>
          </a:xfrm>
          <a:prstGeom prst="rect">
            <a:avLst/>
          </a:prstGeom>
          <a:solidFill>
            <a:srgbClr val="E8ECEE"/>
          </a:solidFill>
          <a:ln w="12700">
            <a:solidFill>
              <a:srgbClr val="E8EC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3300984" y="3044952"/>
            <a:ext cx="109728" cy="10972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3"/>
          <p:cNvSpPr/>
          <p:nvPr/>
        </p:nvSpPr>
        <p:spPr>
          <a:xfrm>
            <a:off x="3465576" y="298094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variantes estructurales complejas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300984" y="3374136"/>
            <a:ext cx="109728" cy="10972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/>
          <p:nvPr/>
        </p:nvSpPr>
        <p:spPr>
          <a:xfrm>
            <a:off x="3465576" y="331012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Metilación nativa sin tratamiento extra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300984" y="3703320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47"/>
          <p:cNvSpPr/>
          <p:nvPr/>
        </p:nvSpPr>
        <p:spPr>
          <a:xfrm>
            <a:off x="3465576" y="3639312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más alto que Illumina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81344" y="914400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1" name="Shape 49"/>
          <p:cNvSpPr/>
          <p:nvPr/>
        </p:nvSpPr>
        <p:spPr>
          <a:xfrm>
            <a:off x="6181344" y="914400"/>
            <a:ext cx="2834640" cy="54864"/>
          </a:xfrm>
          <a:prstGeom prst="rect">
            <a:avLst/>
          </a:prstGeom>
          <a:solidFill>
            <a:srgbClr val="7D3C1A"/>
          </a:solidFill>
          <a:ln w="12700">
            <a:solidFill>
              <a:srgbClr val="7D3C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50"/>
          <p:cNvSpPr/>
          <p:nvPr/>
        </p:nvSpPr>
        <p:spPr>
          <a:xfrm>
            <a:off x="6291072" y="1005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D3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Nanopore (ONT)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291072" y="12618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3ra generación · Ultra-long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291072" y="1481328"/>
            <a:ext cx="907085" cy="201168"/>
          </a:xfrm>
          <a:prstGeom prst="roundRect">
            <a:avLst>
              <a:gd name="adj" fmla="val 18182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Text 53"/>
          <p:cNvSpPr/>
          <p:nvPr/>
        </p:nvSpPr>
        <p:spPr>
          <a:xfrm>
            <a:off x="6327648" y="1499616"/>
            <a:ext cx="8339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D3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291072" y="1773936"/>
            <a:ext cx="2615184" cy="27432"/>
          </a:xfrm>
          <a:prstGeom prst="rect">
            <a:avLst/>
          </a:prstGeom>
          <a:solidFill>
            <a:srgbClr val="E8ECEE"/>
          </a:solidFill>
          <a:ln w="12700">
            <a:solidFill>
              <a:srgbClr val="E8EC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Text 55"/>
          <p:cNvSpPr/>
          <p:nvPr/>
        </p:nvSpPr>
        <p:spPr>
          <a:xfrm>
            <a:off x="6291072" y="18653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3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&gt;100 kb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291072" y="21214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 lectura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598664" y="18653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3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~99% Q20+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598664" y="21214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Kit14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291072" y="23408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3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$1K–300K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291072" y="259689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(MinION-PromethION)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598664" y="23408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3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7598664" y="259689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en tiempo real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291072" y="2880360"/>
            <a:ext cx="2615184" cy="27432"/>
          </a:xfrm>
          <a:prstGeom prst="rect">
            <a:avLst/>
          </a:prstGeom>
          <a:solidFill>
            <a:srgbClr val="E8ECEE"/>
          </a:solidFill>
          <a:ln w="12700">
            <a:solidFill>
              <a:srgbClr val="E8EC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Shape 64"/>
          <p:cNvSpPr/>
          <p:nvPr/>
        </p:nvSpPr>
        <p:spPr>
          <a:xfrm>
            <a:off x="6291072" y="3044952"/>
            <a:ext cx="109728" cy="10972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Text 65"/>
          <p:cNvSpPr/>
          <p:nvPr/>
        </p:nvSpPr>
        <p:spPr>
          <a:xfrm>
            <a:off x="6455664" y="298094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en horas, portátil (MinION=USB)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291072" y="3374136"/>
            <a:ext cx="109728" cy="10972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Text 67"/>
          <p:cNvSpPr/>
          <p:nvPr/>
        </p:nvSpPr>
        <p:spPr>
          <a:xfrm>
            <a:off x="6455664" y="331012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Epigenómica directa sin conversión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291072" y="3703320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1" name="Text 69"/>
          <p:cNvSpPr/>
          <p:nvPr/>
        </p:nvSpPr>
        <p:spPr>
          <a:xfrm>
            <a:off x="6455664" y="3639312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precisión que Illumina en SNVs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01168" y="4608576"/>
            <a:ext cx="8741664" cy="384048"/>
          </a:xfrm>
          <a:prstGeom prst="rect">
            <a:avLst/>
          </a:prstGeom>
          <a:solidFill>
            <a:srgbClr val="D5F5E3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Text 71"/>
          <p:cNvSpPr/>
          <p:nvPr/>
        </p:nvSpPr>
        <p:spPr>
          <a:xfrm>
            <a:off x="347472" y="4663440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prototipo GEN-MAMA-MX: TCGA-BRCA ya fue secuenciado con Illumina — arrancamos directo en el paso 4. Para el proyecto clínico real: Illumina WES (~$300/exoma) es el estándar recomendado.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3 + Docking Molecular: del gen al fármaco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9728" y="914400"/>
            <a:ext cx="169164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09728" y="914400"/>
            <a:ext cx="1691640" cy="54864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81812" y="1042416"/>
            <a:ext cx="347472" cy="347472"/>
          </a:xfrm>
          <a:prstGeom prst="ellipse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81812" y="106070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" y="14813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estructural WT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" y="1993392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Server modela la proteína wild-type (normal). Genera el archivo .pdb con la forma 3D exacta. Score pLDDT indica confianza (&gt;70 = válido).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1168" y="3602736"/>
            <a:ext cx="1508760" cy="0"/>
          </a:xfrm>
          <a:prstGeom prst="rect">
            <a:avLst/>
          </a:prstGeom>
          <a:solidFill>
            <a:srgbClr val="E8ECEE"/>
          </a:solidFill>
          <a:ln w="12700">
            <a:solidFill>
              <a:srgbClr val="E8EC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97764" y="3767328"/>
            <a:ext cx="1115568" cy="201168"/>
          </a:xfrm>
          <a:prstGeom prst="roundRect">
            <a:avLst>
              <a:gd name="adj" fmla="val 18182"/>
            </a:avLst>
          </a:prstGeom>
          <a:solidFill>
            <a:srgbClr val="FAE5D3"/>
          </a:solidFill>
          <a:ln w="12700">
            <a:solidFill>
              <a:srgbClr val="FAE5D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34340" y="3785616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Server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874520" y="914400"/>
            <a:ext cx="169164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1874520" y="914400"/>
            <a:ext cx="1691640" cy="54864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2546604" y="1042416"/>
            <a:ext cx="347472" cy="347472"/>
          </a:xfrm>
          <a:prstGeom prst="ellipse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2546604" y="106070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65960" y="14813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estructural mutada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1993392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Boltz-1 (MIT, sin límite de jobs) modela la misma proteína con la mutación tumoral. El RMSD mide cuánto cambió la forma: mayor RMSD = mayor oportunidad terapéutica.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965960" y="3602736"/>
            <a:ext cx="1508760" cy="0"/>
          </a:xfrm>
          <a:prstGeom prst="rect">
            <a:avLst/>
          </a:prstGeom>
          <a:solidFill>
            <a:srgbClr val="E8ECEE"/>
          </a:solidFill>
          <a:ln w="12700">
            <a:solidFill>
              <a:srgbClr val="E8EC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2251710" y="3767328"/>
            <a:ext cx="937260" cy="201168"/>
          </a:xfrm>
          <a:prstGeom prst="roundRect">
            <a:avLst>
              <a:gd name="adj" fmla="val 18182"/>
            </a:avLst>
          </a:prstGeom>
          <a:solidFill>
            <a:srgbClr val="FAE5D3"/>
          </a:solidFill>
          <a:ln w="12700">
            <a:solidFill>
              <a:srgbClr val="FAE5D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2288286" y="3785616"/>
            <a:ext cx="8823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Boltz-1 · MIT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39312" y="914400"/>
            <a:ext cx="169164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3639312" y="914400"/>
            <a:ext cx="1691640" cy="54864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4311396" y="1042416"/>
            <a:ext cx="347472" cy="347472"/>
          </a:xfrm>
          <a:prstGeom prst="ellipse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4311396" y="106070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30752" y="14813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pockets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30752" y="1993392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fpocket identifica las cavidades 3D donde un fármaco puede encajar físicamente. Calcula las coordenadas exactas de la caja de docking para el siguiente paso.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30752" y="3602736"/>
            <a:ext cx="1508760" cy="0"/>
          </a:xfrm>
          <a:prstGeom prst="rect">
            <a:avLst/>
          </a:prstGeom>
          <a:solidFill>
            <a:srgbClr val="E8ECEE"/>
          </a:solidFill>
          <a:ln w="12700">
            <a:solidFill>
              <a:srgbClr val="E8EC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4194810" y="3767328"/>
            <a:ext cx="580644" cy="201168"/>
          </a:xfrm>
          <a:prstGeom prst="roundRect">
            <a:avLst>
              <a:gd name="adj" fmla="val 18182"/>
            </a:avLst>
          </a:prstGeom>
          <a:solidFill>
            <a:srgbClr val="FAE5D3"/>
          </a:solidFill>
          <a:ln w="12700">
            <a:solidFill>
              <a:srgbClr val="FAE5D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4231386" y="3785616"/>
            <a:ext cx="5257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fpocket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404104" y="914400"/>
            <a:ext cx="169164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5404104" y="914400"/>
            <a:ext cx="1691640" cy="5486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6076188" y="1042416"/>
            <a:ext cx="347472" cy="34747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6076188" y="106070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95544" y="14813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Docking molecular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95544" y="1993392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AutoDock Vina prueba 50+ fármacos conocidos (ChEMBL, DrugBank) contra cada bolsillo. El score en kcal/mol indica afinidad: más negativo = mejor unión.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95544" y="3602736"/>
            <a:ext cx="1508760" cy="0"/>
          </a:xfrm>
          <a:prstGeom prst="rect">
            <a:avLst/>
          </a:prstGeom>
          <a:solidFill>
            <a:srgbClr val="E8ECEE"/>
          </a:solidFill>
          <a:ln w="12700">
            <a:solidFill>
              <a:srgbClr val="E8EC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5454396" y="3767328"/>
            <a:ext cx="1591056" cy="201168"/>
          </a:xfrm>
          <a:prstGeom prst="roundRect">
            <a:avLst>
              <a:gd name="adj" fmla="val 18182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5490972" y="378561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AutoDock Vina · DiffDock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168896" y="914400"/>
            <a:ext cx="169164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7168896" y="914400"/>
            <a:ext cx="1691640" cy="5486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40"/>
          <p:cNvSpPr/>
          <p:nvPr/>
        </p:nvSpPr>
        <p:spPr>
          <a:xfrm>
            <a:off x="7840980" y="1042416"/>
            <a:ext cx="347472" cy="34747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41"/>
          <p:cNvSpPr/>
          <p:nvPr/>
        </p:nvSpPr>
        <p:spPr>
          <a:xfrm>
            <a:off x="7840980" y="106070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260336" y="14813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Fármacos repositionables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60336" y="1993392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fármaco se une significativamente mejor a la proteína mutada vs. WT (Δscore ≤ -1.0 kcal/mol), es un candidato repositionable — ya aprobado para otro uso.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260336" y="3602736"/>
            <a:ext cx="1508760" cy="0"/>
          </a:xfrm>
          <a:prstGeom prst="rect">
            <a:avLst/>
          </a:prstGeom>
          <a:solidFill>
            <a:srgbClr val="E8ECEE"/>
          </a:solidFill>
          <a:ln w="12700">
            <a:solidFill>
              <a:srgbClr val="E8EC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Shape 45"/>
          <p:cNvSpPr/>
          <p:nvPr/>
        </p:nvSpPr>
        <p:spPr>
          <a:xfrm>
            <a:off x="7427214" y="3767328"/>
            <a:ext cx="1175004" cy="201168"/>
          </a:xfrm>
          <a:prstGeom prst="roundRect">
            <a:avLst>
              <a:gd name="adj" fmla="val 18182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6"/>
          <p:cNvSpPr/>
          <p:nvPr/>
        </p:nvSpPr>
        <p:spPr>
          <a:xfrm>
            <a:off x="7463790" y="3785616"/>
            <a:ext cx="11201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ChEMBL · DrugBank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09728" y="4626864"/>
            <a:ext cx="8924544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8"/>
          <p:cNvSpPr/>
          <p:nvPr/>
        </p:nvSpPr>
        <p:spPr>
          <a:xfrm>
            <a:off x="256032" y="4681728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5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del prototipo: Alpelisib y CHEMBL-3127 muestran Δscore ≤ -1.2 kcal/mol en PIK3CA H1047R — candidatos repositionables con aprobación FDA activa.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 genómica en México — estado actual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94360"/>
          </a:xfrm>
          <a:prstGeom prst="rect">
            <a:avLst/>
          </a:prstGeom>
          <a:solidFill>
            <a:srgbClr val="D5F5E3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38912" y="10058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experimental: para cáncer de mama, varios fármacos guiados por genómica ya son estándar de cuidado con aprobación FDA y COFEPRIS, disponibles en México.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54864" cy="8046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38912" y="17007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Alpelisib (Piqray)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920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PIK3CA H1047R, E545K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38912" y="2121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variante #1 del prototipo. Se usa HOY con diagnóstico NGS.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79115" y="1719072"/>
            <a:ext cx="1345997" cy="201168"/>
          </a:xfrm>
          <a:prstGeom prst="roundRect">
            <a:avLst>
              <a:gd name="adj" fmla="val 18182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3024835" y="1737360"/>
            <a:ext cx="12728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2019 · COFEPRIS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617720" y="16459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4617720" y="1645920"/>
            <a:ext cx="54864" cy="8046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782312" y="17007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Trastuzumab (Herceptin)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82312" y="1920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ERBB2/HER2+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82312" y="2121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establecido. En cuadro básico IMSS para indicación correcta.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135978" y="1719072"/>
            <a:ext cx="1532534" cy="201168"/>
          </a:xfrm>
          <a:prstGeom prst="roundRect">
            <a:avLst>
              <a:gd name="adj" fmla="val 18182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7181698" y="1737360"/>
            <a:ext cx="14593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1998 · IMSS/ISSSTE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" y="25603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274320" y="2560320"/>
            <a:ext cx="54864" cy="8046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38912" y="26151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Olaparib (Lynparza)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" y="28346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BRCA1/2 germinal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38912" y="3035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Inhibidor PARP. Centros oncológicos México.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27832" y="2633472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3273552" y="265176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2018 · Oral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17720" y="25603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4617720" y="2560320"/>
            <a:ext cx="54864" cy="8046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4782312" y="26151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Capivasertib (Truqap)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82312" y="28346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PIK3CA · AKT1 · PTEN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82312" y="3035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~40% de tumores de mama. Consenso Mexicano 2025.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25082" y="2633472"/>
            <a:ext cx="1843430" cy="201168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6870802" y="2651760"/>
            <a:ext cx="17702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2023 · Consenso MX 2025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74320" y="35112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LO HACE EN MÉXICO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730752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274320" y="3730752"/>
            <a:ext cx="20574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384048" y="3803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84048" y="40233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UniGPGBio — NGS en tumores sólidos, estándar internacional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450592" y="3730752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2450592" y="3730752"/>
            <a:ext cx="205740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2560320" y="3803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INMEGEN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560320" y="40233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2.5× más rápido, Posgrado Alta Especialidad en Precisión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626864" y="3730752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4626864" y="3730752"/>
            <a:ext cx="20574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3"/>
          <p:cNvSpPr/>
          <p:nvPr/>
        </p:nvSpPr>
        <p:spPr>
          <a:xfrm>
            <a:off x="4736592" y="3803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FUCAM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36592" y="40233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Autora del Consenso Mexicano 2025 — alpelisib y capivasertib incluidos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803136" y="3730752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8" name="Shape 46"/>
          <p:cNvSpPr/>
          <p:nvPr/>
        </p:nvSpPr>
        <p:spPr>
          <a:xfrm>
            <a:off x="6803136" y="3730752"/>
            <a:ext cx="2057400" cy="54864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47"/>
          <p:cNvSpPr/>
          <p:nvPr/>
        </p:nvSpPr>
        <p:spPr>
          <a:xfrm>
            <a:off x="6912864" y="3803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TecSalud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12864" y="40233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privado más activo en terapias dirigidas con NGS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74320" y="4626864"/>
            <a:ext cx="8595360" cy="347472"/>
          </a:xfrm>
          <a:prstGeom prst="rect">
            <a:avLst/>
          </a:prstGeom>
          <a:solidFill>
            <a:srgbClr val="FAEEDA"/>
          </a:solidFill>
          <a:ln w="12700">
            <a:solidFill>
              <a:srgbClr val="FAC7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50"/>
          <p:cNvSpPr/>
          <p:nvPr/>
        </p:nvSpPr>
        <p:spPr>
          <a:xfrm>
            <a:off x="420624" y="4681728"/>
            <a:ext cx="830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 no es el fármaco — es el diagnóstico molecular. GEN-MAMA-MX es el puente que conecta ambos para las pacientes mexicanas que hoy no tienen acceso.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54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3200400" y="4114800"/>
            <a:ext cx="5943600" cy="1028700"/>
          </a:xfrm>
          <a:prstGeom prst="rect">
            <a:avLst/>
          </a:prstGeom>
          <a:solidFill>
            <a:srgbClr val="0A3D40"/>
          </a:solidFill>
          <a:ln w="12700">
            <a:solidFill>
              <a:srgbClr val="0A3D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256032" y="731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GEN-MAMA-MX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2560320" cy="27432"/>
          </a:xfrm>
          <a:prstGeom prst="rect">
            <a:avLst/>
          </a:prstGeom>
          <a:solidFill>
            <a:srgbClr val="D0ECEC"/>
          </a:solidFill>
          <a:ln w="12700">
            <a:solidFill>
              <a:srgbClr val="D0EC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256032" y="1627632"/>
            <a:ext cx="128016" cy="128016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57200" y="151790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100% open-source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2048256"/>
            <a:ext cx="128016" cy="128016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pionero en población latina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2468880"/>
            <a:ext cx="128016" cy="128016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57200" y="235915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funcional en 4 semanas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889504"/>
            <a:ext cx="128016" cy="128016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57200" y="27797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Alianzas: UNISON · IMSS/ISSSTE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3310128"/>
            <a:ext cx="128016" cy="128016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Fármacos ya aprobados (FDA/COFEPRIS)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" y="4480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D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Google.org Impact Challenge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4D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Science 2026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20440" y="64008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que cambia todo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520440" y="1207008"/>
            <a:ext cx="5349240" cy="274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3520440" y="1371600"/>
            <a:ext cx="534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esto funciona para una mascota canina con $2,000 dólares y una IA, ¿por qué no lo estamos haciendo para las 30,000 mujeres mexicanas diagnosticadas con cáncer de mama cada año?"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20440" y="2633472"/>
            <a:ext cx="1691640" cy="1051560"/>
          </a:xfrm>
          <a:prstGeom prst="rect">
            <a:avLst/>
          </a:prstGeom>
          <a:solidFill>
            <a:srgbClr val="0A3D40"/>
          </a:solidFill>
          <a:ln w="12700">
            <a:solidFill>
              <a:srgbClr val="1D6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3611880" y="270662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611880" y="314553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pacientes/año que podrían beneficiarse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49240" y="2633472"/>
            <a:ext cx="1691640" cy="1051560"/>
          </a:xfrm>
          <a:prstGeom prst="rect">
            <a:avLst/>
          </a:prstGeom>
          <a:solidFill>
            <a:srgbClr val="0A3D40"/>
          </a:solidFill>
          <a:ln w="12700">
            <a:solidFill>
              <a:srgbClr val="1D6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5440680" y="270662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3→X%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440680" y="314553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diagnóstico molecular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78040" y="2633472"/>
            <a:ext cx="1691640" cy="1051560"/>
          </a:xfrm>
          <a:prstGeom prst="rect">
            <a:avLst/>
          </a:prstGeom>
          <a:solidFill>
            <a:srgbClr val="0A3D40"/>
          </a:solidFill>
          <a:ln w="12700">
            <a:solidFill>
              <a:srgbClr val="1D6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7269480" y="270662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269480" y="314553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genómico mestizo de mama en MX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20440" y="3803904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abierta hasta el 17 de abril de 2026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520440" y="4096512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D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google.org/impact-challenges/ai-science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520440" y="4370832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D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de Monterrey · UNISON · IMSS/ISSSTE Hermosillo · Sonora, México · Marzo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1173</Words>
  <Application>Microsoft Office PowerPoint</Application>
  <PresentationFormat>Presentación en pantalla (16:9)</PresentationFormat>
  <Paragraphs>219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GEN-MAMA-MX</dc:title>
  <dc:subject>PptxGenJS Presentation</dc:subject>
  <dc:creator>GEN-MAMA-MX Team</dc:creator>
  <cp:lastModifiedBy>Hector Alberto Gutierrez Ibarra</cp:lastModifiedBy>
  <cp:revision>3</cp:revision>
  <dcterms:created xsi:type="dcterms:W3CDTF">2026-03-17T02:18:27Z</dcterms:created>
  <dcterms:modified xsi:type="dcterms:W3CDTF">2026-03-17T04:08:38Z</dcterms:modified>
</cp:coreProperties>
</file>