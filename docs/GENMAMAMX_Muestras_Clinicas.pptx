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160520"/>
            <a:ext cx="6035040" cy="982980"/>
          </a:xfrm>
          <a:prstGeom prst="rect">
            <a:avLst/>
          </a:prstGeom>
          <a:solidFill>
            <a:srgbClr val="0A3D40"/>
          </a:solidFill>
          <a:ln w="12700">
            <a:solidFill>
              <a:srgbClr val="0A3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4572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56032" y="2834640"/>
            <a:ext cx="2468880" cy="27432"/>
          </a:xfrm>
          <a:prstGeom prst="rect">
            <a:avLst/>
          </a:prstGeom>
          <a:solidFill>
            <a:srgbClr val="D0ECEC"/>
          </a:solidFill>
          <a:ln w="12700">
            <a:solidFill>
              <a:srgbClr val="D0EC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2926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Genómica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457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se obtiene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muestra de tejido sano?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Clínicos de Obtención de Muestras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2651760" cy="713232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057400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1305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tumoral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9584" y="24048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needle · ultrasonido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057400"/>
            <a:ext cx="2651760" cy="713232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057400"/>
            <a:ext cx="54864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1305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adyacente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24048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quirúrgica · patólogo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2880360"/>
            <a:ext cx="2651760" cy="713232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2880360"/>
            <a:ext cx="54864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2953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periférica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9584" y="322783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Leucocitos · ADN germinal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2880360"/>
            <a:ext cx="2651760" cy="713232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2880360"/>
            <a:ext cx="54864" cy="7132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2953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líquida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504" y="322783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ctDNA · sin cirugía adicional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Google.org Impact Challenge: AI for Science 2026  ·  Marzo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5457"/>
          </a:solidFill>
          <a:ln w="12700">
            <a:solidFill>
              <a:srgbClr val="0A54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debe ser del mismo paciente — la razón matemática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02920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6868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68680"/>
            <a:ext cx="54864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24144" y="9326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incorrecta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24144" y="1188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Paciente A vs. Tejido Paciente B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24144" y="140817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3–5 millones de diferencias naturales entre personas = ruido inseparable. Imposible detectar mutaciones reales.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395728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395728"/>
            <a:ext cx="54864" cy="1417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24144" y="24597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correcta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24144" y="2715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Paciente A vs. Tejido sano Paciente 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24144" y="293522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 variantes naturales aparecen en ambas muestras y se cancelan. Solo quedan las mutaciones que el tumor adquirió = señal real y accionable.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3–5 millones de variantes genéticas naturales. Sin la muestra del mismo individuo, son indistinguibles de las mutaciones del cáncer.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biopsia tumoral — cómo se obtiene la muestra del cáncer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7824"/>
            <a:ext cx="51206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778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7782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24144" y="9509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Aguja core 14–16G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24144" y="12070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cilindros de tejido de ~1 cm de longitud por pase.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7922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79222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24144" y="1865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6 pases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24144" y="21214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suficiente para histopatología y extracción de ADN para NGS.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7066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70662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Guiado por ultrasonido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24144" y="3035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real. Tumores no palpables: estereotáxia.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6210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62102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Ambulatorio · 20–30 min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24144" y="3950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anestesia local. La paciente sale caminando el mismo día.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muestra tumoral se usa para identificar las variantes somáticas del cáncer. Se compara contra la muestra sana del mismo paciente.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adyacente — la fuente más común de referencia sana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7824"/>
            <a:ext cx="51206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778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77824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24144" y="9509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procedimiento adicional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24144" y="12070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 de la pieza quirúrgica que ya se extrae en la mastectomía o tumorectomía.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7922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792224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24144" y="1865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cm del tumor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24144" y="21214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tejido mamario visualmente libre de células tumorales, verificada por patólogo.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7066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706624"/>
            <a:ext cx="54864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en TCGA-BRCA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24144" y="3035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1,084 pacientes del dataset tienen este par tumor/tejido adyacente secuenciado.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6210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621024"/>
            <a:ext cx="54864" cy="8046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cancerización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24144" y="3950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puede haber cambios moleculares subclínicos no visibles. El patólogo lo evalúa.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fuente de tejido sano más usada clínicamente. No requiere ningún procedimiento adicional: se aprovecha la misma cirugía.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periférica — la muestra más limpia genéticamente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7824"/>
            <a:ext cx="51206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778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77824"/>
            <a:ext cx="54864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24144" y="9509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 EDTA (tapa morada)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24144" y="12070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mL de sangre venosa. Preserva los leucocitos con ADN íntegro.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7922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792224"/>
            <a:ext cx="54864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24144" y="1865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germinal puro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24144" y="21214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leucocitos contienen el genoma germinal sin influencia del microambiente tumoral.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7066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706624"/>
            <a:ext cx="54864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utilidad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24144" y="3035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somático (referencia para detectar variantes del tumor) y consejo genético BRCA1/2.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6210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621024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GEN-MAMA-MX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24144" y="3950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antes de la cirugía. Menor riesgo de campo de cancerización. Costo: ~$50–100 USD.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para el proyecto clínico IMSS/ISSSTE Hermosillo: usar sangre periférica como referencia sana. Más simple, disponible antes de la cirugía.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líquida (ctDNA) — la tecnología del futuro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7824"/>
            <a:ext cx="51206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778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77824"/>
            <a:ext cx="54864" cy="8046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24144" y="9509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biopsia de tejido sólido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24144" y="12070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libera ADN (ctDNA) al torrente sanguíneo. Solo se necesita una extracción de sangre.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17922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792224"/>
            <a:ext cx="54864" cy="8046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24144" y="1865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24144" y="21214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seguir la evolución del tumor durante el tratamiento sin cirugías repetidas.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7066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706624"/>
            <a:ext cx="54864" cy="8046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 Streck especializado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24144" y="3035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el ctDNA hasta 14 días a temperatura ambiente. Disponible en laboratorios privados MX.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621024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62102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actual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24144" y="3950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sensibilidad en estadios tempranos (poco ctDNA). Costo: $800–2,000 USD. Fase futura del proyecto.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biopsia líquida es la tecnología más prometedora a futuro: monitoreo sin cirugías y posible detección temprana de resistencias al tratamiento.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5457"/>
          </a:solidFill>
          <a:ln w="12700">
            <a:solidFill>
              <a:srgbClr val="0A54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opciones — recomendación para GEN-MAMA-MX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77824"/>
          <a:ext cx="8595360" cy="914400"/>
        </p:xfrm>
        <a:graphic>
          <a:graphicData uri="http://schemas.openxmlformats.org/drawingml/2006/table">
            <a:tbl>
              <a:tblPr/>
              <a:tblGrid>
                <a:gridCol w="1079500"/>
                <a:gridCol w="1079500"/>
                <a:gridCol w="889000"/>
                <a:gridCol w="889000"/>
                <a:gridCol w="889000"/>
                <a:gridCol w="85725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Fuente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Procedimiento extra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Calidad ADN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Contaminación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Uso para BRCA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8449"/>
                          </a:solidFill>
                        </a:rPr>
                        <a:t>Tejido adyacente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No (misma cirugía)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Alta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Bajo*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Sí (TCGA)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$0 extra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</a:rPr>
                        <a:t>Sangre periférica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Solo venopunción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Muy alta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Muy bajo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~$50–100 USD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6F1E"/>
                          </a:solidFill>
                        </a:rPr>
                        <a:t>Biopsia líquida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Solo venopunción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Variable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Bajo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~$800–2,000 USD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944368"/>
            <a:ext cx="859536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944368"/>
            <a:ext cx="73152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para GEN-MAMA-MX — Proyecto Clínico IMSS/ISSSTE Hermosillo: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" y="32735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sangre periférica (tubo EDTA) como referencia sana. Es la opción más sencilla logísticamente, disponible antes de la cirugía, con menor riesgo de campo de cancerización, y sirve simultáneamente para el análisis de variantes somáticas y el consejo genético sobre BRCA1/2.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0599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de cancerización: posibles cambios moleculares subclínicos en tejido adyacente — el patólogo lo evalúa en cada caso.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usa datos TCGA-BRCA (tejido adyacente ya secuenciado). El proyecto clínico real con pacientes reales usará sangre periférica.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5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160520"/>
            <a:ext cx="6035040" cy="982980"/>
          </a:xfrm>
          <a:prstGeom prst="rect">
            <a:avLst/>
          </a:prstGeom>
          <a:solidFill>
            <a:srgbClr val="0A3D40"/>
          </a:solidFill>
          <a:ln w="12700">
            <a:solidFill>
              <a:srgbClr val="0A3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640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GEN-MAMA-MX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2468880" cy="27432"/>
          </a:xfrm>
          <a:prstGeom prst="rect">
            <a:avLst/>
          </a:prstGeom>
          <a:solidFill>
            <a:srgbClr val="D0ECEC"/>
          </a:solidFill>
          <a:ln w="12700">
            <a:solidFill>
              <a:srgbClr val="D0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517904"/>
            <a:ext cx="118872" cy="1188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tumoral: aguja core, guiada por 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920240"/>
            <a:ext cx="118872" cy="1188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sano: adyacente (mismo órgano)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322576"/>
            <a:ext cx="118872" cy="1188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sangre periférica (leucocitos)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724912"/>
            <a:ext cx="118872" cy="1188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Futuro: biopsia líquida (ctDNA)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127248"/>
            <a:ext cx="118872" cy="1188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92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del mismo paciente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4251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IMSS/ISSSTE Hermosillo · UNISON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Google.org AI for Science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 todo el pipeline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383280" y="1024128"/>
            <a:ext cx="5486400" cy="274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11556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muestra sana no viene de otro órgano, ni de otra persona — viene del mismo sitio anatómico del mismo paciente. Sin esa comparación, el pipeline no puede distinguir las mutaciones del cáncer de las variaciones genéticas normales de esa persona.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383280" y="2286000"/>
            <a:ext cx="1737360" cy="91440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286000"/>
            <a:ext cx="173736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3774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paciente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56432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germinal personal como referencia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2286000"/>
            <a:ext cx="1737360" cy="91440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57800" y="2286000"/>
            <a:ext cx="173736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23774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tumor/sano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que solo están en el tumor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286000"/>
            <a:ext cx="1737360" cy="914400"/>
          </a:xfrm>
          <a:prstGeom prst="rect">
            <a:avLst/>
          </a:prstGeom>
          <a:solidFill>
            <a:srgbClr val="0A3D40"/>
          </a:solidFill>
          <a:ln w="12700">
            <a:solidFill>
              <a:srgbClr val="1D6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0" y="2286000"/>
            <a:ext cx="173736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23774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válido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05472" y="26517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→ AlphaFold → Docking → Fármaco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abierta: 17 de abril de 2026 · google.org/impact-challenges/ai-science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GEN-MAMA-MX — Obtención de Muestras Clínicas</dc:title>
  <dc:subject>PptxGenJS Presentation</dc:subject>
  <dc:creator>PptxGenJS</dc:creator>
  <cp:lastModifiedBy>PptxGenJS</cp:lastModifiedBy>
  <cp:revision>1</cp:revision>
  <dcterms:created xsi:type="dcterms:W3CDTF">2026-03-17T06:14:26Z</dcterms:created>
  <dcterms:modified xsi:type="dcterms:W3CDTF">2026-03-17T06:14:26Z</dcterms:modified>
</cp:coreProperties>
</file>